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01B"/>
                </a:solidFill>
                <a:latin typeface="Arial"/>
              </a:defRPr>
            </a:pPr>
            <a:r>
              <a:rPr lang="en-IN" sz="1200" b="0" i="0" u="none" strike="noStrike">
                <a:solidFill>
                  <a:srgbClr val="0E201B"/>
                </a:solidFill>
                <a:latin typeface="Arial"/>
              </a:rPr>
              <a:t>Tier distribution — 700 prospects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Leads</c:v>
                </c:pt>
              </c:strCache>
            </c:strRef>
          </c:tx>
          <c:spPr>
            <a:solidFill>
              <a:srgbClr val="00584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E201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Serious</c:v>
                </c:pt>
                <c:pt idx="1">
                  <c:v>Interested</c:v>
                </c:pt>
                <c:pt idx="2">
                  <c:v>Quality watch</c:v>
                </c:pt>
                <c:pt idx="3">
                  <c:v>Manual review</c:v>
                </c:pt>
                <c:pt idx="4">
                  <c:v>Not ready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150</c:v>
                </c:pt>
                <c:pt idx="1">
                  <c:v>67</c:v>
                </c:pt>
                <c:pt idx="2">
                  <c:v>108</c:v>
                </c:pt>
                <c:pt idx="3">
                  <c:v>100</c:v>
                </c:pt>
                <c:pt idx="4">
                  <c:v>275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FC4-4D77-928A-00523C2CE0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5645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7E4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5645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8564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KalithasG/prospect-assist-ai" TargetMode="External"/><Relationship Id="rId4" Type="http://schemas.openxmlformats.org/officeDocument/2006/relationships/hyperlink" Target="https://prospect-assist-ai-brsg.onrender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0C2516-9096-C989-D044-3537C56CC28E}"/>
              </a:ext>
            </a:extLst>
          </p:cNvPr>
          <p:cNvSpPr txBox="1"/>
          <p:nvPr/>
        </p:nvSpPr>
        <p:spPr>
          <a:xfrm>
            <a:off x="1524000" y="1140588"/>
            <a:ext cx="8128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IN" b="0">
                <a:effectLst/>
              </a:rPr>
            </a:br>
            <a:endParaRPr lang="en-IN" b="0">
              <a:effectLst/>
            </a:endParaRPr>
          </a:p>
          <a:p>
            <a:pPr rtl="0">
              <a:buNone/>
            </a:pPr>
            <a:r>
              <a:rPr lang="en-IN" sz="1800" b="1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Details</a:t>
            </a:r>
            <a:endParaRPr lang="en-IN" b="0">
              <a:effectLst/>
            </a:endParaRPr>
          </a:p>
          <a:p>
            <a:pPr marL="457200" rtl="0" fontAlgn="base">
              <a:buFont typeface="+mj-lt"/>
              <a:buAutoNum type="arabicPeriod"/>
            </a:pPr>
            <a:br>
              <a:rPr lang="en-IN" b="0">
                <a:effectLst/>
              </a:rPr>
            </a:br>
            <a:endParaRPr lang="en-IN" sz="1800" b="1" i="0" u="none" strike="noStrike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457200" rtl="0" fontAlgn="base">
              <a:buFont typeface="+mj-lt"/>
              <a:buAutoNum type="arabicPeriod"/>
            </a:pPr>
            <a:r>
              <a:rPr lang="en-IN" sz="1800" b="1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name: </a:t>
            </a:r>
          </a:p>
          <a:p>
            <a:pPr marL="457200" rtl="0" fontAlgn="base">
              <a:buFont typeface="+mj-lt"/>
              <a:buAutoNum type="arabicPeriod"/>
            </a:pPr>
            <a:r>
              <a:rPr lang="en-IN" sz="1800" b="1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leader name: </a:t>
            </a:r>
          </a:p>
          <a:p>
            <a:pPr marL="457200" rtl="0" fontAlgn="base">
              <a:buFont typeface="+mj-lt"/>
              <a:buAutoNum type="arabicPeriod"/>
            </a:pPr>
            <a:r>
              <a:rPr lang="en-IN" sz="1800" b="1" i="0" u="none" strike="noStrike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Problem Statement: </a:t>
            </a:r>
          </a:p>
          <a:p>
            <a:pPr>
              <a:buNone/>
            </a:pPr>
            <a:br>
              <a:rPr lang="en-IN" b="0">
                <a:effectLst/>
              </a:rPr>
            </a:br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54462-88AA-8F6D-E285-889446783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59C207-27C2-00CF-24C9-ECF448DA787A}"/>
              </a:ext>
            </a:extLst>
          </p:cNvPr>
          <p:cNvSpPr txBox="1"/>
          <p:nvPr/>
        </p:nvSpPr>
        <p:spPr>
          <a:xfrm>
            <a:off x="489283" y="4491769"/>
            <a:ext cx="1099686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15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Details</a:t>
            </a:r>
            <a:br>
              <a:rPr lang="en-IN" b="0" dirty="0">
                <a:effectLst/>
              </a:rPr>
            </a:br>
            <a:endParaRPr lang="en-IN" sz="1500" b="1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800100" indent="-342900" rtl="0" fontAlgn="base">
              <a:buFont typeface="+mj-lt"/>
              <a:buAutoNum type="alphaLcPeriod"/>
            </a:pPr>
            <a:r>
              <a:rPr lang="en-IN" sz="15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name: </a:t>
            </a:r>
            <a:r>
              <a:rPr lang="en-IN" sz="150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Kali_innov</a:t>
            </a:r>
            <a:endParaRPr lang="en-IN" sz="150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800100" indent="-342900" rtl="0" fontAlgn="base">
              <a:buFont typeface="+mj-lt"/>
              <a:buAutoNum type="alphaLcPeriod"/>
            </a:pPr>
            <a:r>
              <a:rPr lang="en-IN" sz="15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Team leader name: </a:t>
            </a:r>
            <a:r>
              <a:rPr lang="en-IN" sz="1500" dirty="0">
                <a:solidFill>
                  <a:srgbClr val="000000"/>
                </a:solidFill>
                <a:latin typeface="Arial" panose="020B0604020202020204" pitchFamily="34" charset="0"/>
              </a:rPr>
              <a:t>Kalithas G</a:t>
            </a:r>
            <a:endParaRPr lang="en-IN" sz="150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800100" indent="-342900" fontAlgn="base">
              <a:buFont typeface="+mj-lt"/>
              <a:buAutoNum type="alphaLcPeriod"/>
            </a:pPr>
            <a:r>
              <a:rPr lang="en-IN" sz="15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Problem Statement: </a:t>
            </a:r>
            <a:r>
              <a:rPr lang="en-US" sz="16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— Prospect Assist AI: data-driven identification of eligible, repayment-capable, genuinely interested retail-loan prospects from transaction &amp; behavioral insights (Personal · Home · Mortgage/LAP · Auto)</a:t>
            </a:r>
            <a:endParaRPr lang="en-IN" sz="1500" b="1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>
              <a:buNone/>
            </a:pPr>
            <a:br>
              <a:rPr lang="en-IN" b="0" dirty="0">
                <a:effectLst/>
              </a:rPr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1417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about the idea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lending today runs on declared income, bureau scores and static FOIR — so lead-to-loan conversion sits near 1%, and genuine borrowers with non-standard income are missed.
Prospect Assist AI replaces declarations with evidence. A multi-agent pipeline mines consented transaction, UPI, GST, engagement and alt-data signals to answer three questions for every prospect — and hands relationship managers a prioritized queue where every lead carries its own affordability math and evidence bundle.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4892040"/>
            <a:ext cx="5852160" cy="1325880"/>
          </a:xfrm>
          <a:prstGeom prst="roundRect">
            <a:avLst>
              <a:gd name="adj" fmla="val 620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77240" y="50749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7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~1%  </a:t>
            </a:r>
            <a:r>
              <a:rPr lang="en-US" sz="2600" b="1" dirty="0">
                <a:solidFill>
                  <a:srgbClr val="55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r>
              <a:rPr lang="en-US" sz="30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&gt;30%</a:t>
            </a:r>
            <a:r>
              <a:rPr lang="en-US" sz="1250" dirty="0">
                <a:solidFill>
                  <a:srgbClr val="55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target lead-to-loan conversion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720840" y="1554480"/>
            <a:ext cx="4965192" cy="1463040"/>
          </a:xfrm>
          <a:prstGeom prst="roundRect">
            <a:avLst>
              <a:gd name="adj" fmla="val 5625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995160" y="168249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they repay?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995160" y="202996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inferred from cash-flow behavior; disposable surplus → safe EMI capacity → max loan, per segment (salaried · gig/self-employed · new-to-credit).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720840" y="3136392"/>
            <a:ext cx="4965192" cy="1463040"/>
          </a:xfrm>
          <a:prstGeom prst="roundRect">
            <a:avLst>
              <a:gd name="adj" fmla="val 5625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995160" y="32644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they need a loan now?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995160" y="361188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Life-event spend (rent, builder, dealer, medical), savings patterns and in-app engagement, amplified in real time with time-decay.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720840" y="4718304"/>
            <a:ext cx="4965192" cy="1463040"/>
          </a:xfrm>
          <a:prstGeom prst="roundRect">
            <a:avLst>
              <a:gd name="adj" fmla="val 5625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995160" y="48463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they convert?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95160" y="5193792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conversion probability blends eligibility, intent and engagement recency — tiers leads from serious to not-ready.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WHY 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58952" y="1719072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 it different?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58952" y="2395728"/>
            <a:ext cx="3182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Inferred, behavior-derived income — not self-declared salary or one-size FOIR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a reflection gate — contradictory signals are re-checked, never silently scored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validated before any data is touched; scoring without a token is refused (HTTP 403)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Segment-native strategies instead of forcing gig workers and NTC customers through salaried logic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79392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35424" y="1719072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it solve the problem?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35424" y="2395728"/>
            <a:ext cx="3182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window-shoppers from genuine borrowers using intent taxonomy + real-time engagement amplification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Quantifies repayment capacity: monthly surplus → safe EMI → max loan eligibility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delinquency signal from current behavior feeds prudent structuring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lead tiers give RMs a ranked queue with a recommended action per lead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55864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311896" y="1719072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 of the solution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11896" y="2395728"/>
            <a:ext cx="3182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ships with evidence: SHAP-style contributions + analyst narrative — underwriters see why, not just what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Data-source abstraction seam: mock sandbox → bank sandbox → production is a config swap, zero agent changes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Thin-file NTC coverage via electricity / fuel alt-data proxies with explicit confidence floors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 by design — a human underwriter always makes the final call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of features offered by the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40664" y="15727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Behavior-derived income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0664" y="186537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segment strategies: salary-credit medians, discounted gig/UPI + GST cross-check, alt-data proxies for NTC.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99632" y="1481328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437376" y="15727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Affordability waterfall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37376" y="186537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decomposed into obligations vs. surplus; safe EMI capacity and max-loan eligibility per lead.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724912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740664" y="28163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detection + decay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40664" y="310896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Product-specific life-event signals, amplified by calculator use &amp; session depth; decays 50% / 7d, 0 / 30d.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99632" y="2724912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437376" y="28163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Delinquency early warning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37376" y="310896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 risk from card utilization trends, inquiry bursts and declining savings — not just bureau history.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968496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740664" y="40599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lead prioritization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0664" y="435254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· Interested · Quality-watch · Manual-review · Not-ready, each with a recommended RM action.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9632" y="3968496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437376" y="40599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evidence bundle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37376" y="435254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SHAP-style feature contributions + plain-language analyst narrative for every scored lead.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212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740664" y="5303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Consent-gated pipeline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40664" y="5596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Scoped, expiring consent tokens enforced before any data fetch; violations are structurally impossible.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99632" y="5212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437376" y="5303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guardrails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37376" y="5596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 gate, NTC confidence floor (never “serious” below 0.6), bounded retries, thin-file promotion rules.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flow — score one prospect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7607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Consent gate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Scoped, expiring token validated before any data access — else HTTP 403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2900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50215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Data fetch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Transactions, UPI, bureau, GST, engagement, alt-data via connector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5508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2823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Transaction intelligence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Categorization, life-event detection, behavioral features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28116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935431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Segment inference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Salaried · gig / self-employed · new-to-credit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80360" y="202539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806440" y="202539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8732520" y="202539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10369296" y="2651760"/>
            <a:ext cx="201168" cy="640080"/>
          </a:xfrm>
          <a:prstGeom prst="down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9281160" y="329184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9354312" y="329184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Parallel agents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(income &amp; surplus) · Intent · Delinquency risk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55080" y="329184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428232" y="329184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Scoring ensemble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with hard floors + calibrated conversion propensity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29000" y="329184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502152" y="329184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Reflection gate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 check · NTC confidence floor · retry ≤ 3 · thin-file promotion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32520" y="3717036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5806440" y="3717036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517136" y="4343400"/>
            <a:ext cx="201168" cy="640080"/>
          </a:xfrm>
          <a:prstGeom prst="down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3429000" y="498348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502152" y="498348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Tier + evidence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→ 5 tiers; SHAP-style contributions + narrative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55080" y="498348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6428232" y="498348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Publish</a:t>
            </a:r>
            <a:endParaRPr lang="en-US" sz="12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saved; served via API to the RM / underwriting dashboard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806440" y="540867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02920" y="61996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mode: cohort scoring via POST /prospects/batch-score → 700-persona eval harness reuses this exact path.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/ mock diagrams — implemented UI</a:t>
            </a:r>
            <a:endParaRPr lang="en-US" sz="2800" dirty="0"/>
          </a:p>
        </p:txBody>
      </p:sp>
      <p:pic>
        <p:nvPicPr>
          <p:cNvPr id="4" name="Image 0" descr="C:/Users/gokuls/Downloads/prospect-assist-ai/dashboard/snapshots/dashboar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688" y="1417320"/>
            <a:ext cx="8046720" cy="5029200"/>
          </a:xfrm>
          <a:prstGeom prst="rect">
            <a:avLst/>
          </a:prstGeom>
          <a:effectLst>
            <a:outerShdw blurRad="101600" dist="25400" dir="5400000" algn="bl" rotWithShape="0">
              <a:srgbClr val="9AACA6">
                <a:alpha val="4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2075688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wireframe — the implemented Material Design 3 console: KPI strip, tier/product filters, ranked lead queue, and per-lead income, risk and affordability panels.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of the proposed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76072" y="1572768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mock sandbox (700 personas) · Phase 2: IDBI sandbox APIs · Phase 3: AA, GST, bureau, production feeds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51960" y="1572768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325112" y="1572768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Data-source abstraction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BankDataConnector interface — phases swap by config, agents never change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001000" y="1572768"/>
            <a:ext cx="3657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074152" y="1572768"/>
            <a:ext cx="35112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layer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parser · Capability · Intent · Delinquency · Eligibility ensemble · Conversion · Evidence compiler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03320" y="2157984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7452360" y="2157984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9729216" y="2944368"/>
            <a:ext cx="201168" cy="512064"/>
          </a:xfrm>
          <a:prstGeom prst="down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8001000" y="3456432"/>
            <a:ext cx="3657600" cy="1371600"/>
          </a:xfrm>
          <a:prstGeom prst="roundRect">
            <a:avLst>
              <a:gd name="adj" fmla="val 466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074152" y="3456432"/>
            <a:ext cx="35112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Execute → Reflect → Evaluate; contradiction &amp; confidence gates, bounded retries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51960" y="3456432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325112" y="3456432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API (FastAPI)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· leads · batch-score · feedback; 403 consent / 422 thin-file / 503 outage — stable across phases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456432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76072" y="3456432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dashboard</a:t>
            </a:r>
            <a:endParaRPr lang="en-US" sz="13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Material Design 3 console; evidence-first lead review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52360" y="4041648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3703320" y="4041648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502920" y="525780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7E4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731520" y="5321808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service — </a:t>
            </a:r>
            <a:r>
              <a:rPr lang="en-US" sz="11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 with 24h TTL, validated at the orchestrator boundary before any connector call.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525780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7E4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400800" y="5321808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— </a:t>
            </a:r>
            <a:r>
              <a:rPr lang="en-US" sz="11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store behind fixed interfaces (Phase 1); PostgreSQL 16 + Redis land in Phase 2 with no agent changes.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 used in the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486400" cy="4709160"/>
          </a:xfrm>
          <a:prstGeom prst="roundRect">
            <a:avLst>
              <a:gd name="adj" fmla="val 1748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77240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(built &amp; running)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212848"/>
            <a:ext cx="4892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 · FastAPI + Pydantic v2 — typed public API contract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rule-weighted ensembles with heuristic sigmoid squashing (honest labeling; learned calibration in Phase 2) — fully explainable Phase-1 scoring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 + Recharts — Material Design 3 underwriting console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— BDD scenarios written before implementation + API contract + governance/signal tests (25 tests)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generator — 700 personas, 6 archetypes, fixed seed 42, held-out ground-truth labels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99632" y="1508760"/>
            <a:ext cx="5486400" cy="4709160"/>
          </a:xfrm>
          <a:prstGeom prst="roundRect">
            <a:avLst>
              <a:gd name="adj" fmla="val 1748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473952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7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 (Phase 2 / 3)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73952" y="2212848"/>
            <a:ext cx="4892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/ CatBoost eligibility &amp; intent models — drop in behind the same agent interfaces once labeled sandbox data exists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 for ambiguous transaction narrations (rule engine covers the rest)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Redis behind the existing store interfaces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deployment (containerized FastAPI, managed RDS, queue-based batch scoring)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Aggregator, GST and bureau integrations via the same connector seam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09 ·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0E201B"/>
                </a:solidFill>
                <a:latin typeface="Arial"/>
              </a:rPr>
              <a:t>Estimated implementation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55645F"/>
                </a:solidFill>
                <a:latin typeface="Calibri"/>
              </a:rPr>
              <a:t>Pilot scenario — 100K customers, 12 months of transaction data (AWS, indicative)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55648"/>
          <a:ext cx="6309360" cy="442569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514600"/>
                <a:gridCol w="1508760"/>
                <a:gridCol w="228600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Monthly cost (INR)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Compute (EC2 / serverless)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₹15,000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Spot instances, auto-scaling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Storage (S3 data lake)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₹2,100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1 TB transaction data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ETL (Glue / Spark)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₹6,700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Daily batch jobs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ML training (SageMaker)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₹10,000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Weekly retraining, spot pricing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ML inference (batch transform)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₹12,500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Nightly scoring, no real-time endpoints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Cache (ElastiCache)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₹3,300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Real-time intent signals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Database (RDS / Aurora)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₹5,000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Episodic + document store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Vector + graph DB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₹6,700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Qdrant + Neo4j on EC2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Monitoring (CloudWatch)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₹2,100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55645F"/>
                          </a:solidFill>
                          <a:latin typeface="Calibri"/>
                        </a:rPr>
                        <a:t>Observability stack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Total monthly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0584C"/>
                          </a:solidFill>
                          <a:latin typeface="Calibri"/>
                        </a:rPr>
                        <a:t>~₹50,900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1">
                          <a:solidFill>
                            <a:srgbClr val="55645F"/>
                          </a:solidFill>
                          <a:latin typeface="Calibri"/>
                        </a:rPr>
                        <a:t>Well within pilot budget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78040" y="175564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C77700"/>
                </a:solidFill>
                <a:latin typeface="Arial"/>
              </a:rPr>
              <a:t>Unit economics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78040" y="2176272"/>
          <a:ext cx="4480560" cy="241401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331720"/>
                <a:gridCol w="214884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 marT="18288" marB="18288">
                    <a:solidFill>
                      <a:srgbClr val="00584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Cost / lead scored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₹0.51  (10× cheaper)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Cost / conversion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₹170  (3× cheaper)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Cost / loan disbursed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₹1,700  (3–5× cheaper)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E201B"/>
                          </a:solidFill>
                          <a:latin typeface="Calibri"/>
                        </a:rPr>
                        <a:t>Revenue / lead (2% margin)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₹4,100  (3.4× higher)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E201B"/>
                          </a:solidFill>
                          <a:latin typeface="Calibri"/>
                        </a:rPr>
                        <a:t>ROI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0584C"/>
                          </a:solidFill>
                          <a:latin typeface="Calibri"/>
                        </a:rPr>
                        <a:t>2.4×  (10× improvement)</a:t>
                      </a:r>
                    </a:p>
                  </a:txBody>
                  <a:tcPr anchor="ctr" marL="73152" marR="73152" marT="18288" marB="18288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178040" y="4892040"/>
            <a:ext cx="4480560" cy="960120"/>
          </a:xfrm>
          <a:prstGeom prst="roundRect">
            <a:avLst>
              <a:gd name="adj" fmla="val 12000"/>
            </a:avLst>
          </a:prstGeom>
          <a:solidFill>
            <a:srgbClr val="EA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200" b="1">
                <a:solidFill>
                  <a:srgbClr val="00584C"/>
                </a:solidFill>
                <a:latin typeface="Calibri"/>
              </a:rPr>
              <a:t>One-time setup:  </a:t>
            </a:r>
            <a:r>
              <a:rPr sz="1200" b="0">
                <a:solidFill>
                  <a:srgbClr val="55645F"/>
                </a:solidFill>
                <a:latin typeface="Calibri"/>
              </a:rPr>
              <a:t>~₹41,700 for data migration &amp; initial model training.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9107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55645F"/>
                </a:solidFill>
                <a:latin typeface="Calibri"/>
              </a:rPr>
              <a:t>Figures are indicative planning estimates; the data-source seam keeps re-platforming cost near zero between phases.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55645F"/>
                </a:solidFill>
                <a:latin typeface="Calibri"/>
              </a:rPr>
              <a:t>Prospect Assist AI · IDBI Innovate 2026 · Track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Snapshots of the prototype</a:t>
            </a:r>
            <a:endParaRPr lang="en-US" sz="2800" dirty="0"/>
          </a:p>
        </p:txBody>
      </p:sp>
      <p:pic>
        <p:nvPicPr>
          <p:cNvPr id="4" name="Image 0" descr="C:/Users/gokuls/Downloads/prospect-assist-ai/dashboard/snapshots/dashboar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  <a:effectLst>
            <a:outerShdw blurRad="101600" dist="25400" dir="5400000" algn="bl" rotWithShape="0">
              <a:srgbClr val="9AACA6">
                <a:alpha val="4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02920" y="5989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queue + KPI strip — 700 scored prospects, filterable by tier and product</a:t>
            </a:r>
            <a:endParaRPr lang="en-US" sz="1050" dirty="0"/>
          </a:p>
        </p:txBody>
      </p:sp>
      <p:pic>
        <p:nvPicPr>
          <p:cNvPr id="6" name="Image 1" descr="C:/Users/gokuls/Downloads/prospect-assist-ai/dashboard/snapshots/dashboard_explain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0" y="1554480"/>
            <a:ext cx="3977640" cy="3557016"/>
          </a:xfrm>
          <a:prstGeom prst="rect">
            <a:avLst/>
          </a:prstGeom>
          <a:effectLst>
            <a:outerShdw blurRad="101600" dist="25400" dir="5400000" algn="bl" rotWithShape="0">
              <a:srgbClr val="9AACA6">
                <a:alpha val="40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726680" y="52120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panel — SHAP-style contributions and analyst narrative for every lead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performance — 700-persona eval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6126480" cy="2816352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gate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8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84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8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estimation accuracy (per segment, ±15%)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/ 86 / 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tiering quality (match or adjacent)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· exact 84.6%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conversion on contacted tiers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NTC hard-rule violations (“serious” below confidence floor)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 strategy selection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Consent-gate violations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572000"/>
            <a:ext cx="6126480" cy="1554480"/>
          </a:xfrm>
          <a:prstGeom prst="roundRect">
            <a:avLst>
              <a:gd name="adj" fmla="val 5294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777240" y="468172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25</a:t>
            </a:r>
            <a:r>
              <a:rPr lang="en-US" sz="1150" dirty="0">
                <a:solidFill>
                  <a:srgbClr val="55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tests pass — BDD scenarios (written first) + API contract + governance &amp; signal tests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5394960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is drawn independently of the scoring formulas (cash income, GST underreporting, proxy noise) — sub-100% numbers are honest by design. Phase 2 re-runs the same harness on IDBI sandbox data.</a:t>
            </a:r>
            <a:endParaRPr lang="en-US" sz="10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949440" y="1554480"/>
          <a:ext cx="47548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details &amp; future development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58952" y="171907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done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58952" y="224028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multi-agent pipeline on the synthetic sandbox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reflection and confidence guardrails in place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+ BDD suite green; working RM console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79392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35424" y="171907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7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bank sandbox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535424" y="224028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IDBI sandbox connector (config change only)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XGBoost / CatBoost + FinBERT on labeled data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Redis; re-run the identical eval harness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feedback loop via the existing feedback endpoint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55864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311896" y="171907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production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311896" y="224028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Aggregator, GST, bureau &amp; property/vehicle integrations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models, drift monitoring, audit trail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intent amplification from live app events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Portfolio-level early-warning dashboards for underwriting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58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868680" y="199339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public repository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0" y="199339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50" b="1">
                <a:solidFill>
                  <a:srgbClr val="00584C"/>
                </a:solidFill>
                <a:latin typeface="Calibri"/>
                <a:hlinkClick r:id="rId3"/>
              </a:rPr>
              <a:t>github.com/KalithasG/prospect-assist-ai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306324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68680" y="322783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video (3 minutes)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0" y="322783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42976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68680" y="446227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product link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0" y="446227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50" b="1">
                <a:solidFill>
                  <a:srgbClr val="00584C"/>
                </a:solidFill>
                <a:latin typeface="Calibri"/>
                <a:hlinkClick r:id="rId4"/>
              </a:rPr>
              <a:t>prospect-assist-ai-brsg.onrender.com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Prospect Assist AI · IDBI Innovate 2026 · Track 2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1681</Words>
  <Application>Microsoft Office PowerPoint</Application>
  <PresentationFormat>Widescreen</PresentationFormat>
  <Paragraphs>199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Prospect Assist AI — IDBI Innovate 2026 Prototype Submission</dc:title>
  <dc:subject>PptxGenJS Presentation</dc:subject>
  <dc:creator>Prospect Assist AI team</dc:creator>
  <cp:lastModifiedBy>Kalithas G</cp:lastModifiedBy>
  <cp:revision>3</cp:revision>
  <dcterms:created xsi:type="dcterms:W3CDTF">2026-07-13T02:28:32Z</dcterms:created>
  <dcterms:modified xsi:type="dcterms:W3CDTF">2026-07-13T14:11:30Z</dcterms:modified>
</cp:coreProperties>
</file>