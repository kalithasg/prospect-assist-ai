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01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01B"/>
                </a:solidFill>
                <a:latin typeface="Arial"/>
              </a:rPr>
              <a:t>Tier distribution — 700 prospects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005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01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Serious</c:v>
                </c:pt>
                <c:pt idx="1">
                  <c:v>Interested</c:v>
                </c:pt>
                <c:pt idx="2">
                  <c:v>Quality watch</c:v>
                </c:pt>
                <c:pt idx="3">
                  <c:v>Manual review</c:v>
                </c:pt>
                <c:pt idx="4">
                  <c:v>Not ready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54</c:v>
                </c:pt>
                <c:pt idx="2">
                  <c:v>116</c:v>
                </c:pt>
                <c:pt idx="3">
                  <c:v>100</c:v>
                </c:pt>
                <c:pt idx="4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4-4D77-928A-00523C2CE0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564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564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56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C2516-9096-C989-D044-3537C56CC28E}"/>
              </a:ext>
            </a:extLst>
          </p:cNvPr>
          <p:cNvSpPr txBox="1"/>
          <p:nvPr/>
        </p:nvSpPr>
        <p:spPr>
          <a:xfrm>
            <a:off x="1524000" y="1140588"/>
            <a:ext cx="8128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b="0">
                <a:effectLst/>
              </a:rPr>
            </a:br>
            <a:endParaRPr lang="en-IN" b="0">
              <a:effectLst/>
            </a:endParaRPr>
          </a:p>
          <a:p>
            <a:pPr rtl="0">
              <a:buNone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Details</a:t>
            </a:r>
            <a:endParaRPr lang="en-IN" b="0">
              <a:effectLst/>
            </a:endParaRPr>
          </a:p>
          <a:p>
            <a:pPr marL="457200" rtl="0" fontAlgn="base">
              <a:buFont typeface="+mj-lt"/>
              <a:buAutoNum type="arabicPeriod"/>
            </a:pPr>
            <a:br>
              <a:rPr lang="en-IN" b="0">
                <a:effectLst/>
              </a:rPr>
            </a:br>
            <a:endParaRPr lang="en-IN" sz="1800" b="1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rtl="0" fontAlgn="base">
              <a:buFont typeface="+mj-lt"/>
              <a:buAutoNum type="arabicPeriod"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name: </a:t>
            </a:r>
          </a:p>
          <a:p>
            <a:pPr marL="457200" rtl="0" fontAlgn="base">
              <a:buFont typeface="+mj-lt"/>
              <a:buAutoNum type="arabicPeriod"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leader name: </a:t>
            </a:r>
          </a:p>
          <a:p>
            <a:pPr marL="457200" rtl="0" fontAlgn="base">
              <a:buFont typeface="+mj-lt"/>
              <a:buAutoNum type="arabicPeriod"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 Statement: </a:t>
            </a:r>
          </a:p>
          <a:p>
            <a:pPr>
              <a:buNone/>
            </a:pPr>
            <a:br>
              <a:rPr lang="en-IN" b="0">
                <a:effectLst/>
              </a:rPr>
            </a:b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54462-88AA-8F6D-E285-889446783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59C207-27C2-00CF-24C9-ECF448DA787A}"/>
              </a:ext>
            </a:extLst>
          </p:cNvPr>
          <p:cNvSpPr txBox="1"/>
          <p:nvPr/>
        </p:nvSpPr>
        <p:spPr>
          <a:xfrm>
            <a:off x="489283" y="4491769"/>
            <a:ext cx="1099686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Details</a:t>
            </a:r>
            <a:br>
              <a:rPr lang="en-IN" b="0" dirty="0">
                <a:effectLst/>
              </a:rPr>
            </a:br>
            <a:endParaRPr lang="en-IN" sz="15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indent="-342900" rtl="0" fontAlgn="base">
              <a:buFont typeface="+mj-lt"/>
              <a:buAutoNum type="alphaLcPeriod"/>
            </a:pPr>
            <a:r>
              <a:rPr lang="en-IN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name: </a:t>
            </a:r>
            <a:r>
              <a:rPr lang="en-IN" sz="150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Kali_innov</a:t>
            </a:r>
            <a:endParaRPr lang="en-IN" sz="15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indent="-342900" rtl="0" fontAlgn="base">
              <a:buFont typeface="+mj-lt"/>
              <a:buAutoNum type="alphaLcPeriod"/>
            </a:pPr>
            <a:r>
              <a:rPr lang="en-IN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leader name: </a:t>
            </a:r>
            <a:r>
              <a:rPr lang="en-IN" sz="1500" dirty="0">
                <a:solidFill>
                  <a:srgbClr val="000000"/>
                </a:solidFill>
                <a:latin typeface="Arial" panose="020B0604020202020204" pitchFamily="34" charset="0"/>
              </a:rPr>
              <a:t>Kalithas G</a:t>
            </a:r>
            <a:endParaRPr lang="en-IN" sz="15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indent="-342900" fontAlgn="base">
              <a:buFont typeface="+mj-lt"/>
              <a:buAutoNum type="alphaLcPeriod"/>
            </a:pPr>
            <a:r>
              <a:rPr lang="en-IN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 Statement: </a:t>
            </a:r>
            <a:r>
              <a:rPr lang="en-US" sz="16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Prospect Assist AI: data-driven identification of eligible, repayment-capable, genuinely interested retail-loan prospects from transaction &amp; behavioral insights (Personal · Home · Mortgage/LAP · Auto)</a:t>
            </a:r>
            <a:endParaRPr lang="en-IN" sz="15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41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Assist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Behavior-driven lead generation &amp; underwriting support for IDBI retail lending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224942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E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· Track 2 · Prototype Submission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11183112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Team name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3703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4165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Team leader name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0" y="44165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12978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Problem statement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51297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Prospect Assist AI: data-driven identification of eligible, repayment-capable, genuinely interested retail-loan prospects from transaction &amp; behavioral insights (Personal · Home · Mortgage/LAP · Auto)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about the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lending today runs on declared income, bureau scores and static FOIR — so lead-to-loan conversion sits near 1%, and genuine borrowers with non-standard income are missed.
Prospect Assist AI replaces declarations with evidence. A multi-agent pipeline mines consented transaction, UPI, GST, engagement and alt-data signals to answer three questions for every prospect — and hands relationship managers a prioritized queue where every lead carries its own affordability math and evidence bundle.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5852160" cy="1325880"/>
          </a:xfrm>
          <a:prstGeom prst="roundRect">
            <a:avLst>
              <a:gd name="adj" fmla="val 620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50749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  </a:t>
            </a:r>
            <a:r>
              <a:rPr lang="en-US" sz="2600" b="1" dirty="0">
                <a:solidFill>
                  <a:srgbClr val="55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30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&gt;30%</a:t>
            </a:r>
            <a:r>
              <a:rPr lang="en-US" sz="1250" dirty="0">
                <a:solidFill>
                  <a:srgbClr val="55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target lead-to-loan conversion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720840" y="1554480"/>
            <a:ext cx="4965192" cy="1463040"/>
          </a:xfrm>
          <a:prstGeom prst="roundRect">
            <a:avLst>
              <a:gd name="adj" fmla="val 562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95160" y="1682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they repay?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95160" y="202996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inferred from cash-flow behavior; disposable surplus → safe EMI capacity → max loan, per segment (salaried · gig/self-employed · new-to-credit).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20840" y="3136392"/>
            <a:ext cx="4965192" cy="1463040"/>
          </a:xfrm>
          <a:prstGeom prst="roundRect">
            <a:avLst>
              <a:gd name="adj" fmla="val 562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95160" y="3264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they need a loan now?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95160" y="361188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Life-event spend (rent, builder, dealer, medical), savings patterns and in-app engagement, amplified in real time with time-decay.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4718304"/>
            <a:ext cx="4965192" cy="1463040"/>
          </a:xfrm>
          <a:prstGeom prst="roundRect">
            <a:avLst>
              <a:gd name="adj" fmla="val 562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95160" y="4846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they convert?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95160" y="51937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conversion probability blends eligibility, intent and engagement recency — tiers leads from serious to not-ready.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39312" cy="4709160"/>
          </a:xfrm>
          <a:prstGeom prst="roundRect">
            <a:avLst>
              <a:gd name="adj" fmla="val 22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171907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different?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2395728"/>
            <a:ext cx="31821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Inferred, behavior-derived income — not self-declared salary or one-size FOIR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with a reflection gate — contradictory signals are re-checked, never silently scored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validated before any data is touched; scoring without a token is refused (HTTP 403)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Segment-native strategies instead of forcing gig workers and NTC customers through salaried logic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508760"/>
            <a:ext cx="3639312" cy="4709160"/>
          </a:xfrm>
          <a:prstGeom prst="roundRect">
            <a:avLst>
              <a:gd name="adj" fmla="val 22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35424" y="171907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solve the problem?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35424" y="2395728"/>
            <a:ext cx="31821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window-shoppers from genuine borrowers using intent taxonomy + real-time engagement amplification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repayment capacity: monthly surplus → safe EMI → max loan eligibility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delinquency signal from current behavior feeds prudent structuring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lead tiers give RMs a ranked queue with a recommended action per lead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55864" y="1508760"/>
            <a:ext cx="3639312" cy="4709160"/>
          </a:xfrm>
          <a:prstGeom prst="roundRect">
            <a:avLst>
              <a:gd name="adj" fmla="val 22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11896" y="171907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of the 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11896" y="2395728"/>
            <a:ext cx="31821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evidence: SHAP-style contributions + analyst narrative — underwriters see why, not just what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Data-source abstraction seam: mock sandbox → bank sandbox → production is a config swap, zero agent changes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NTC coverage via electricity / fuel alt-data proxies with explicit confidence floors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by design — a human underwriter always makes the final call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0664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Behavior-derived income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0664" y="186537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segment strategies: salary-credit medians, discounted gig/UPI + GST cross-check, alt-data proxies for NTC.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9632" y="1481328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37376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waterfall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37376" y="186537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decomposed into obligations vs. surplus; safe EMI capacity and max-loan eligibility per lead.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0664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detection + decay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0664" y="310896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Product-specific life-event signals, amplified by calculator use &amp; session depth; decays 50% / 7d, 0 / 30d.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2724912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37376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early warning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310896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risk from card utilization trends, inquiry bursts and declining savings — not just bureau history.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0664" y="4059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lead prioritization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" y="435254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· Interested · Quality-watch · Manual-review · Not-ready, each with a recommended RM action.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3968496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37376" y="4059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evidence bundle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37376" y="435254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feature contributions + plain-language analyst narrative for every scored lead.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2120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0664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Consent-gated pipeline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0664" y="559612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expiring consent tokens enforced before any data fetch; violations are structurally impossible.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52120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37376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guardrails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37376" y="559612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gate, NTC confidence floor (never “serious” below 0.6), bounded retries, thin-file promotion rules.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— score one prospect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6072" y="16002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Consent gate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expiring token validated before any data access — else HTTP 403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02152" y="16002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fetch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UPI, bureau, GST, engagement, alt-data via connector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28232" y="16002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Transaction intelligence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Categorization, life-event detection, behavioral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81160" y="160020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354312" y="16002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Segment inference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· gig / self-employed · new-to-credit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2025396"/>
            <a:ext cx="548640" cy="201168"/>
          </a:xfrm>
          <a:prstGeom prst="righ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806440" y="2025396"/>
            <a:ext cx="548640" cy="201168"/>
          </a:xfrm>
          <a:prstGeom prst="righ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732520" y="2025396"/>
            <a:ext cx="548640" cy="201168"/>
          </a:xfrm>
          <a:prstGeom prst="righ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369296" y="2651760"/>
            <a:ext cx="201168" cy="640080"/>
          </a:xfrm>
          <a:prstGeom prst="down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281160" y="329184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354312" y="329184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Parallel agents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(income &amp; surplus) · Intent · Delinquency risk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29184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28232" y="329184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Scoring ensemble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with hard floors + calibrated conversion propensity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329184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02152" y="329184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Reflection gate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check · NTC confidence floor · retry ≤ 3 · thin-file promotion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3717036"/>
            <a:ext cx="548640" cy="201168"/>
          </a:xfrm>
          <a:prstGeom prst="lef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806440" y="3717036"/>
            <a:ext cx="548640" cy="201168"/>
          </a:xfrm>
          <a:prstGeom prst="lef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17136" y="4343400"/>
            <a:ext cx="201168" cy="640080"/>
          </a:xfrm>
          <a:prstGeom prst="down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29000" y="498348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EAF4F1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02152" y="498348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Tier + evidence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→ 5 tiers; SHAP-style contributions + narrative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498348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EAF4F1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28232" y="498348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Publish</a:t>
            </a:r>
            <a:endParaRPr lang="en-US" sz="12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saved; served via API to the RM / underwriting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5408676"/>
            <a:ext cx="548640" cy="201168"/>
          </a:xfrm>
          <a:prstGeom prst="righ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mode: cohort scoring via POST /prospects/batch-score → 700-persona eval harness reuses this exact path.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/ mock diagrams — implemented UI</a:t>
            </a:r>
            <a:endParaRPr lang="en-US" sz="2800" dirty="0"/>
          </a:p>
        </p:txBody>
      </p:sp>
      <p:pic>
        <p:nvPicPr>
          <p:cNvPr id="4" name="Image 0" descr="C:/Users/gokuls/Downloads/prospect-assist-ai/dashboard/snapshots/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417320"/>
            <a:ext cx="8046720" cy="5029200"/>
          </a:xfrm>
          <a:prstGeom prst="rect">
            <a:avLst/>
          </a:prstGeom>
          <a:effectLst>
            <a:outerShdw blurRad="101600" dist="25400" dir="5400000" algn="bl" rotWithShape="0">
              <a:srgbClr val="9AACA6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075688" y="6473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wireframe — the implemented Material Design 3 console: KPI strip, tier/product filters, ranked lead queue, and per-lead income, risk and affordability panels.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of the 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mock sandbox (700 personas) · Phase 2: IDBI sandbox APIs · Phase 3: AA, GST, bureau, production feeds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EAF4F1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25112" y="1572768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Data-source abstraction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BankDataConnector interface — phases swap by config, agents never 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01000" y="1572768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074152" y="1572768"/>
            <a:ext cx="3511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parser · Capability · Intent · Delinquency · Eligibility ensemble · Conversion · Evidence compiler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2157984"/>
            <a:ext cx="548640" cy="201168"/>
          </a:xfrm>
          <a:prstGeom prst="righ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452360" y="2157984"/>
            <a:ext cx="548640" cy="201168"/>
          </a:xfrm>
          <a:prstGeom prst="righ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729216" y="2944368"/>
            <a:ext cx="201168" cy="512064"/>
          </a:xfrm>
          <a:prstGeom prst="down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01000" y="3456432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EAF4F1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74152" y="3456432"/>
            <a:ext cx="3511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→ Reflect → Evaluate; contradiction &amp; confidence gates, bounded retries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3456432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25112" y="3456432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(FastAPI)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leads · batch-score · feedback; 403 consent / 422 thin-file / 503 outage — stable across phases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456432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5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6072" y="3456432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Material Design 3 console; evidence-first lead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4041648"/>
            <a:ext cx="548640" cy="201168"/>
          </a:xfrm>
          <a:prstGeom prst="lef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03320" y="4041648"/>
            <a:ext cx="548640" cy="201168"/>
          </a:xfrm>
          <a:prstGeom prst="leftArrow">
            <a:avLst/>
          </a:prstGeom>
          <a:solidFill>
            <a:srgbClr val="2E7D6B"/>
          </a:solidFill>
          <a:ln w="63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525780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E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5321808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service — </a:t>
            </a:r>
            <a:r>
              <a:rPr lang="en-US" sz="11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 with 24h TTL, validated at the orchestrator boundary before any connector call.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525780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E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5321808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</a:t>
            </a:r>
            <a:r>
              <a:rPr lang="en-US" sz="11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behind fixed interfaces (Phase 1); PostgreSQL 16 + Redis land in Phase 2 with no agent changes.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 in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86400" cy="4709160"/>
          </a:xfrm>
          <a:prstGeom prst="roundRect">
            <a:avLst>
              <a:gd name="adj" fmla="val 1748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(built &amp; running)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· FastAPI + Pydantic v2 — typed public API contract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rule-weighted ensembles with sigmoid (Platt-style) calibration — fully explainable Phase-1 scoring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Recharts — Material Design 3 underwriting console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9 BDD scenarios written before implementation + API contract tests (16 tests)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generator — 700 personas, 6 archetypes, fixed seed 42, held-out ground-truth labels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508760"/>
            <a:ext cx="5486400" cy="4709160"/>
          </a:xfrm>
          <a:prstGeom prst="roundRect">
            <a:avLst>
              <a:gd name="adj" fmla="val 1748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73952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Scale-up (Phase 2 / 3)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212848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CatBoost eligibility &amp; intent models — drop in behind the same agent interfaces once labeled sandbox data exists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for ambiguous transaction narrations (rule engine covers the rest)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Redis behind the existing store interfaces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(containerized FastAPI, managed RDS, queue-based batch scoring)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Aggregator, GST and bureau integrations via the same connector seam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 (indicative)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389888"/>
          </a:xfrm>
          <a:prstGeom prst="roundRect">
            <a:avLst>
              <a:gd name="adj" fmla="val 592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465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Prototype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infrastructure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43400" y="1746504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against the synthetic sandbox; no cloud spend, no licensed data. Already built.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136392"/>
            <a:ext cx="11183112" cy="1389888"/>
          </a:xfrm>
          <a:prstGeom prst="roundRect">
            <a:avLst>
              <a:gd name="adj" fmla="val 592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32826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Bank-sandbox 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₹40k–60k / month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43400" y="3282696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API + dashboard on AWS (ECS/Fargate, RDS PostgreSQL, ElastiCache, monitoring); IDBI sandbox data via connector swap.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672584"/>
            <a:ext cx="11183112" cy="1389888"/>
          </a:xfrm>
          <a:prstGeom prst="roundRect">
            <a:avLst>
              <a:gd name="adj" fmla="val 592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4818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2212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43400" y="4818888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scored-prospect volume; main drivers are model serving, AA/GST/bureau API calls and data retention. Detailed TCO after pilot benchmarking.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indicative estimates for planning only; the prototype's data-source seam keeps re-platforming cost near zero between phases.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</a:t>
            </a:r>
            <a:endParaRPr lang="en-US" sz="2800" dirty="0"/>
          </a:p>
        </p:txBody>
      </p:sp>
      <p:pic>
        <p:nvPicPr>
          <p:cNvPr id="4" name="Image 0" descr="C:/Users/gokuls/Downloads/prospect-assist-ai/dashboard/snapshots/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6949440" cy="4343400"/>
          </a:xfrm>
          <a:prstGeom prst="rect">
            <a:avLst/>
          </a:prstGeom>
          <a:effectLst>
            <a:outerShdw blurRad="101600" dist="25400" dir="5400000" algn="bl" rotWithShape="0">
              <a:srgbClr val="9AACA6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02920" y="5989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queue + KPI strip — 700 scored prospects, filterable by tier and product</a:t>
            </a:r>
            <a:endParaRPr lang="en-US" sz="1050" dirty="0"/>
          </a:p>
        </p:txBody>
      </p:sp>
      <p:pic>
        <p:nvPicPr>
          <p:cNvPr id="6" name="Image 1" descr="C:/Users/gokuls/Downloads/prospect-assist-ai/dashboard/snapshots/dashboard_explain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554480"/>
            <a:ext cx="3977640" cy="3557016"/>
          </a:xfrm>
          <a:prstGeom prst="rect">
            <a:avLst/>
          </a:prstGeom>
          <a:effectLst>
            <a:outerShdw blurRad="101600" dist="25400" dir="5400000" algn="bl" rotWithShape="0">
              <a:srgbClr val="9AACA6">
                <a:alpha val="4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726680" y="5212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panel — SHAP-style contributions and analyst narrative for every lead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performance — 700-persona eval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126480" cy="2816352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estimation accuracy (per segment, ±15%)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× 3 segments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tiering quality (match or adjacent)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conversion on contacted 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NTC hard-rule violations (“serious” below confidence floor)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strategy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Consent-gate violations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572000"/>
            <a:ext cx="6126480" cy="1554480"/>
          </a:xfrm>
          <a:prstGeom prst="roundRect">
            <a:avLst>
              <a:gd name="adj" fmla="val 529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46817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r>
              <a:rPr lang="en-US" sz="1150" dirty="0">
                <a:solidFill>
                  <a:srgbClr val="55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tests pass — 9 BDD scenarios (written before implementation) + API contract tests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53949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generator and heuristics were co-designed, so Phase-1 numbers are an upper bound. Phase 2 re-runs the same harness on IDBI sandbox data.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949440" y="1554480"/>
          <a:ext cx="4754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5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details &amp; future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39312" cy="4709160"/>
          </a:xfrm>
          <a:prstGeom prst="roundRect">
            <a:avLst>
              <a:gd name="adj" fmla="val 22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17190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done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224028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multi-agent pipeline on the synthetic sandbox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reflection and confidence guardrails in place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+ BDD suite green; working RM console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508760"/>
            <a:ext cx="3639312" cy="4709160"/>
          </a:xfrm>
          <a:prstGeom prst="roundRect">
            <a:avLst>
              <a:gd name="adj" fmla="val 22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35424" y="17190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bank sandbox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5424" y="224028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IDBI sandbox connector (config change only)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 / CatBoost + FinBERT on labeled data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Redis; re-run the identical eval harness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feedback loop via the existing feedback endpoint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55864" y="1508760"/>
            <a:ext cx="3639312" cy="4709160"/>
          </a:xfrm>
          <a:prstGeom prst="roundRect">
            <a:avLst>
              <a:gd name="adj" fmla="val 22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11896" y="17190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11896" y="224028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Aggregator, GST, bureau &amp; property/vehicle integrations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Champion/challenger models, drift monitoring, audit trail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intent amplification from live app events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E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early-warning dashboards for underwriting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· IDBI Innovate 2026 · Track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82880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9933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public repository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0" y="199339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  ____________________________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32278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(3 minutes)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322783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29768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44622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product link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446227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Prospect Assist AI · IDBI Innovate 2026 · Track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1755</Words>
  <Application>Microsoft Office PowerPoint</Application>
  <PresentationFormat>Widescreen</PresentationFormat>
  <Paragraphs>210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Prospect Assist AI — IDBI Innovate 2026 Prototype Submission</dc:title>
  <dc:subject>PptxGenJS Presentation</dc:subject>
  <dc:creator>Prospect Assist AI team</dc:creator>
  <cp:lastModifiedBy>Kalithas G</cp:lastModifiedBy>
  <cp:revision>2</cp:revision>
  <dcterms:created xsi:type="dcterms:W3CDTF">2026-07-13T02:28:32Z</dcterms:created>
  <dcterms:modified xsi:type="dcterms:W3CDTF">2026-07-13T03:16:58Z</dcterms:modified>
</cp:coreProperties>
</file>