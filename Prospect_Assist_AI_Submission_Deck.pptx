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01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E201B"/>
                </a:solidFill>
                <a:latin typeface="Arial"/>
              </a:rPr>
              <a:t>Tier distribution — 700 prospects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Leads</c:v>
                </c:pt>
              </c:strCache>
            </c:strRef>
          </c:tx>
          <c:spPr>
            <a:solidFill>
              <a:srgbClr val="00584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E201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Serious</c:v>
                  </c:pt>
                  <c:pt idx="1">
                    <c:v>Interested</c:v>
                  </c:pt>
                  <c:pt idx="2">
                    <c:v>Quality watch</c:v>
                  </c:pt>
                  <c:pt idx="3">
                    <c:v>Manual review</c:v>
                  </c:pt>
                  <c:pt idx="4">
                    <c:v>Not ready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150</c:v>
                </c:pt>
                <c:pt idx="1">
                  <c:v>54</c:v>
                </c:pt>
                <c:pt idx="2">
                  <c:v>116</c:v>
                </c:pt>
                <c:pt idx="3">
                  <c:v>100</c:v>
                </c:pt>
                <c:pt idx="4">
                  <c:v>280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E201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5645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7E4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5645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8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96012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Prospect Assist AI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02920" y="18288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Behavior-driven lead generation &amp; underwriting support for IDBI retail lending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02920" y="224942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C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IDBI Innovate 2026 · Track 2 · Prototype Submission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3017520"/>
            <a:ext cx="11183112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Details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7033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Team name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657600" y="370332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68680" y="441655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Team leader name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657600" y="4416552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5129784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 Problem statement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657600" y="5129784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— Prospect Assist AI: data-driven identification of eligible, repayment-capable, genuinely interested retail-loan prospects from transaction &amp; behavioral insights (Personal · Home · Mortgage/LAP · Auto)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about the idea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lending today runs on declared income, bureau scores and static FOIR — so lead-to-loan conversion sits near 1%, and genuine borrowers with non-standard income are missed.
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replaces declarations with evidence. A multi-agent pipeline mines consented transaction, UPI, GST, engagement and alt-data signals to answer three questions for every prospect — and hands relationship managers a prioritized queue where every lead carries its own affordability math and evidence bundle.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4892040"/>
            <a:ext cx="5852160" cy="1325880"/>
          </a:xfrm>
          <a:prstGeom prst="roundRect">
            <a:avLst>
              <a:gd name="adj" fmla="val 620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50749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77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~1%  </a:t>
            </a:r>
            <a:pPr indent="0" marL="0">
              <a:buNone/>
            </a:pPr>
            <a:r>
              <a:rPr lang="en-US" sz="2600" b="1" dirty="0">
                <a:solidFill>
                  <a:srgbClr val="55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buNone/>
            </a:pPr>
            <a:r>
              <a:rPr lang="en-US" sz="30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&gt;30%</a:t>
            </a:r>
            <a:pPr indent="0" marL="0">
              <a:buNone/>
            </a:pPr>
            <a:r>
              <a:rPr lang="en-US" sz="1250" dirty="0">
                <a:solidFill>
                  <a:srgbClr val="55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target lead-to-loan conversion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720840" y="1554480"/>
            <a:ext cx="4965192" cy="1463040"/>
          </a:xfrm>
          <a:prstGeom prst="roundRect">
            <a:avLst>
              <a:gd name="adj" fmla="val 5625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95160" y="168249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they repay?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995160" y="202996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inferred from cash-flow behavior; disposable surplus → safe EMI capacity → max loan, per segment (salaried · gig/self-employed · new-to-credit).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720840" y="3136392"/>
            <a:ext cx="4965192" cy="1463040"/>
          </a:xfrm>
          <a:prstGeom prst="roundRect">
            <a:avLst>
              <a:gd name="adj" fmla="val 5625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95160" y="32644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they need a loan now?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995160" y="361188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Life-event spend (rent, builder, dealer, medical), savings patterns and in-app engagement, amplified in real time with time-decay.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720840" y="4718304"/>
            <a:ext cx="4965192" cy="1463040"/>
          </a:xfrm>
          <a:prstGeom prst="roundRect">
            <a:avLst>
              <a:gd name="adj" fmla="val 5625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95160" y="48463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 they convert?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995160" y="5193792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conversion probability blends eligibility, intent and engagement recency — tiers leads from serious to not-ready.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WHY 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719072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is it different?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58952" y="2395728"/>
            <a:ext cx="3182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Inferred, behavior-derived income — not self-declared salary or one-size FOIR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with a reflection gate — contradictory signals are re-checked, never silently scored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validated before any data is touched; scoring without a token is refused (HTTP 403)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Segment-native strategies instead of forcing gig workers and NTC customers through salaried logic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79392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35424" y="1719072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it solve the problem?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35424" y="2395728"/>
            <a:ext cx="3182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window-shoppers from genuine borrowers using intent taxonomy + real-time engagement amplification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Quantifies repayment capacity: monthly surplus → safe EMI → max loan eligibility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delinquency signal from current behavior feeds prudent structuring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lead tiers give RMs a ranked queue with a recommended action per lead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55864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11896" y="1719072"/>
            <a:ext cx="3127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USP of the solution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11896" y="2395728"/>
            <a:ext cx="3182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ships with evidence: SHAP-style contributions + analyst narrative — underwriters see why, not just what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Data-source abstraction seam: mock sandbox → bank sandbox → production is a config swap, zero agent changes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Thin-file NTC coverage via electricity / fuel alt-data proxies with explicit confidence floors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 by design — a human underwriter always makes the final call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FEATURES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of features offered by the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0664" y="15727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Behavior-derived income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0664" y="186537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segment strategies: salary-credit medians, discounted gig/UPI + GST cross-check, alt-data proxies for NTC.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99632" y="1481328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7376" y="15727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Affordability waterfall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37376" y="1865376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decomposed into obligations vs. surplus; safe EMI capacity and max-loan eligibility per lead.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724912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0664" y="28163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detection + decay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40664" y="310896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Product-specific life-event signals, amplified by calculator use &amp; session depth; decays 50% / 7d, 0 / 30d.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99632" y="2724912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28163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Delinquency early warning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37376" y="3108960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 risk from card utilization trends, inquiry bursts and declining savings — not just bureau history.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968496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" y="40599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lead prioritization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0664" y="435254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· Interested · Quality-watch · Manual-review · Not-ready, each with a recommended RM action.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9632" y="3968496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37376" y="40599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evidence bundle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37376" y="4352544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SHAP-style feature contributions + plain-language analyst narrative for every scored lead.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52120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64" y="5303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Consent-gated pipeline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40664" y="5596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Scoped, expiring consent tokens enforced before any data fetch; violations are structurally impossible.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99632" y="5212080"/>
            <a:ext cx="5486400" cy="1115568"/>
          </a:xfrm>
          <a:prstGeom prst="roundRect">
            <a:avLst>
              <a:gd name="adj" fmla="val 7377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37376" y="5303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guardrails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37376" y="5596128"/>
            <a:ext cx="5029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 gate, NTC confidence floor (never “serious” below 0.6), bounded retries, thin-file promotion rules.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flow — score one prospect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Consent gate</a:t>
            </a:r>
            <a:endParaRPr lang="en-US" sz="12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Scoped, expiring token validated before any data access — else HTTP 403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2900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0215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Data fetch</a:t>
            </a:r>
            <a:endParaRPr lang="en-US" sz="12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Transactions, UPI, bureau, GST, engagement, alt-data via connector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5508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Transaction intelligence</a:t>
            </a:r>
            <a:endParaRPr lang="en-US" sz="12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Categorization, life-event detection, behavioral features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281160" y="160020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54312" y="160020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Segment inference</a:t>
            </a:r>
            <a:endParaRPr lang="en-US" sz="12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Salaried · gig / self-employed · new-to-credit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80360" y="202539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06440" y="202539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732520" y="202539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69296" y="2651760"/>
            <a:ext cx="201168" cy="640080"/>
          </a:xfrm>
          <a:prstGeom prst="down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81160" y="329184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54312" y="329184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Parallel agents</a:t>
            </a:r>
            <a:endParaRPr lang="en-US" sz="12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(income &amp; surplus) · Intent · Delinquency risk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55080" y="329184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28232" y="329184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Scoring ensemble</a:t>
            </a:r>
            <a:endParaRPr lang="en-US" sz="12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with hard floors + calibrated conversion propensity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29000" y="329184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02152" y="329184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Reflection gate</a:t>
            </a:r>
            <a:endParaRPr lang="en-US" sz="12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 check · NTC confidence floor · retry ≤ 3 · thin-file promotion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32520" y="3717036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06440" y="3717036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17136" y="4343400"/>
            <a:ext cx="201168" cy="640080"/>
          </a:xfrm>
          <a:prstGeom prst="down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29000" y="498348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02152" y="498348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Tier + evidence</a:t>
            </a:r>
            <a:endParaRPr lang="en-US" sz="12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→ 5 tiers; SHAP-style contributions + narrative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55080" y="4983480"/>
            <a:ext cx="2377440" cy="1051560"/>
          </a:xfrm>
          <a:prstGeom prst="roundRect">
            <a:avLst>
              <a:gd name="adj" fmla="val 608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28232" y="4983480"/>
            <a:ext cx="22311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Publish</a:t>
            </a:r>
            <a:endParaRPr lang="en-US" sz="12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saved; served via API to the RM / underwriting dashboard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806440" y="5408676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61996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mode: cohort scoring via POST /prospects/batch-score → 700-persona eval harness reuses this exact path.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 / mock diagrams — implemented UI</a:t>
            </a:r>
            <a:endParaRPr lang="en-US" sz="2800" dirty="0"/>
          </a:p>
        </p:txBody>
      </p:sp>
      <p:pic>
        <p:nvPicPr>
          <p:cNvPr id="4" name="Image 0" descr="C:/Users/gokuls/Downloads/prospect-assist-ai/dashboard/snapshots/dashboard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5688" y="1417320"/>
            <a:ext cx="8046720" cy="50292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9AACA6">
                <a:alpha val="4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2075688" y="64739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wireframe — the implemented Material Design 3 console: KPI strip, tier/product filters, ranked lead queue, and per-lead income, risk and affordability panels.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of the proposed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1572768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3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mock sandbox (700 personas) · Phase 2: IDBI sandbox APIs · Phase 3: AA, GST, bureau, production feeds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251960" y="1572768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25112" y="1572768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Data-source abstraction</a:t>
            </a:r>
            <a:endParaRPr lang="en-US" sz="13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BankDataConnector interface — phases swap by config, agents never change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001000" y="1572768"/>
            <a:ext cx="3657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74152" y="1572768"/>
            <a:ext cx="35112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layer</a:t>
            </a:r>
            <a:endParaRPr lang="en-US" sz="13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parser · Capability · Intent · Delinquency · Eligibility ensemble · Conversion · Evidence compiler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703320" y="2157984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52360" y="2157984"/>
            <a:ext cx="548640" cy="201168"/>
          </a:xfrm>
          <a:prstGeom prst="righ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29216" y="2944368"/>
            <a:ext cx="201168" cy="512064"/>
          </a:xfrm>
          <a:prstGeom prst="down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01000" y="3456432"/>
            <a:ext cx="3657600" cy="1371600"/>
          </a:xfrm>
          <a:prstGeom prst="roundRect">
            <a:avLst>
              <a:gd name="adj" fmla="val 4667"/>
            </a:avLst>
          </a:prstGeom>
          <a:solidFill>
            <a:srgbClr val="EAF4F1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74152" y="3456432"/>
            <a:ext cx="35112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3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→ Execute → Reflect → Evaluate; contradiction &amp; confidence gates, bounded retries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51960" y="3456432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25112" y="3456432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API (FastAPI)</a:t>
            </a:r>
            <a:endParaRPr lang="en-US" sz="13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· leads · batch-score · feedback; 403 consent / 422 thin-file / 503 outage — stable across phases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456432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5875">
            <a:solidFill>
              <a:srgbClr val="00584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3456432"/>
            <a:ext cx="3054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dashboard</a:t>
            </a:r>
            <a:endParaRPr lang="en-US" sz="13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Material Design 3 console; evidence-first lead review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52360" y="4041648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03320" y="4041648"/>
            <a:ext cx="548640" cy="201168"/>
          </a:xfrm>
          <a:prstGeom prst="leftArrow">
            <a:avLst/>
          </a:prstGeom>
          <a:solidFill>
            <a:srgbClr val="2E7D6B"/>
          </a:solidFill>
          <a:ln w="6350">
            <a:solidFill>
              <a:srgbClr val="2E7D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525780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7E4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321808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service — </a:t>
            </a:r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 with 24h TTL, validated at the orchestrator boundary before any connector call.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525780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7E4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5321808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5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— </a:t>
            </a:r>
            <a:pPr indent="0" marL="0">
              <a:buNone/>
            </a:pPr>
            <a:r>
              <a:rPr lang="en-US" sz="11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store behind fixed interfaces (Phase 1); PostgreSQL 16 + Redis land in Phase 2 with no agent changes.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 used in the solution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486400" cy="4709160"/>
          </a:xfrm>
          <a:prstGeom prst="roundRect">
            <a:avLst>
              <a:gd name="adj" fmla="val 1748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(built &amp; running)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212848"/>
            <a:ext cx="4892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 · FastAPI + Pydantic v2 — typed public API contract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rule-weighted ensembles with sigmoid (Platt-style) calibration — fully explainable Phase-1 scoring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 + Recharts — Material Design 3 underwriting console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— 9 BDD scenarios written before implementation + API contract tests (16 tests)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generator — 700 personas, 6 archetypes, fixed seed 42, held-out ground-truth labels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99632" y="1508760"/>
            <a:ext cx="5486400" cy="4709160"/>
          </a:xfrm>
          <a:prstGeom prst="roundRect">
            <a:avLst>
              <a:gd name="adj" fmla="val 1748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3952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Scale-up (Phase 2 / 3)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73952" y="2212848"/>
            <a:ext cx="4892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/ CatBoost eligibility &amp; intent models — drop in behind the same agent interfaces once labeled sandbox data exists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 for ambiguous transaction narrations (rule engine covers the rest)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+ Redis behind the existing store interfaces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deployment (containerized FastAPI, managed RDS, queue-based batch scoring)</a:t>
            </a:r>
            <a:endParaRPr lang="en-US" sz="120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Aggregator, GST and bureau integrations via the same connector seam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COST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implementation cost (indicative)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183112" cy="1389888"/>
          </a:xfrm>
          <a:prstGeom prst="roundRect">
            <a:avLst>
              <a:gd name="adj" fmla="val 592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465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Prototype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₹0 infrastructure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343400" y="1746504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locally against the synthetic sandbox; no cloud spend, no licensed data. Already built.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3136392"/>
            <a:ext cx="11183112" cy="1389888"/>
          </a:xfrm>
          <a:prstGeom prst="roundRect">
            <a:avLst>
              <a:gd name="adj" fmla="val 592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2826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Bank-sandbox pilot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368503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77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₹40k–60k / month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343400" y="3282696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Containerized API + dashboard on AWS (ECS/Fargate, RDS PostgreSQL, ElastiCache, monitoring); IDBI sandbox data via connector swap.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672584"/>
            <a:ext cx="11183112" cy="1389888"/>
          </a:xfrm>
          <a:prstGeom prst="roundRect">
            <a:avLst>
              <a:gd name="adj" fmla="val 592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8188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Production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522122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Usage-based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343400" y="4818888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 scored-prospect volume; main drivers are model serving, AA/GST/bureau API calls and data retention. Detailed TCO after pilot benchmarking.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indicative estimates for planning only; the prototype's data-source seam keeps re-platforming cost near zero between phases.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PROTOTYPE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Snapshots of the prototype</a:t>
            </a:r>
            <a:endParaRPr lang="en-US" sz="2800" dirty="0"/>
          </a:p>
        </p:txBody>
      </p:sp>
      <p:pic>
        <p:nvPicPr>
          <p:cNvPr id="4" name="Image 0" descr="C:/Users/gokuls/Downloads/prospect-assist-ai/dashboard/snapshots/dashboard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949440" cy="434340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9AACA6">
                <a:alpha val="4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02920" y="5989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queue + KPI strip — 700 scored prospects, filterable by tier and product</a:t>
            </a:r>
            <a:endParaRPr lang="en-US" sz="1050" dirty="0"/>
          </a:p>
        </p:txBody>
      </p:sp>
      <p:pic>
        <p:nvPicPr>
          <p:cNvPr id="6" name="Image 1" descr="C:/Users/gokuls/Downloads/prospect-assist-ai/dashboard/snapshots/dashboard_explainabil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554480"/>
            <a:ext cx="3977640" cy="3557016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9AACA6">
                <a:alpha val="40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726680" y="52120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panel — SHAP-style contributions and analyst narrative for every lead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performance — 700-persona eval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612648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00584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gate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8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84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84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estimation accuracy (per segment, ±15%)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× 3 segments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tiering quality (match or adjacent)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conversion on contacted tiers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NTC hard-rule violations (“serious” below confidence floor)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 strategy selection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Consent-gate violations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E20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572000"/>
            <a:ext cx="6126480" cy="1554480"/>
          </a:xfrm>
          <a:prstGeom prst="roundRect">
            <a:avLst>
              <a:gd name="adj" fmla="val 5294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68172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pPr indent="0" marL="0">
              <a:buNone/>
            </a:pPr>
            <a:r>
              <a:rPr lang="en-US" sz="1150" dirty="0">
                <a:solidFill>
                  <a:srgbClr val="556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tests pass — 9 BDD scenarios (written before implementation) + API contract tests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5394960"/>
            <a:ext cx="5623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generator and heuristics were co-designed, so Phase-1 numbers are an upper bound. Phase 2 re-runs the same harness on IDBI sandbox data.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949440" y="1554480"/>
          <a:ext cx="47548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584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20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details &amp; future development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71907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done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58952" y="224028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multi-agent pipeline on the synthetic sandbox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reflection and confidence guardrails in place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 + BDD suite green; working RM console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79392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35424" y="171907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7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bank sandbox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535424" y="224028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IDBI sandbox connector (config change only)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XGBoost / CatBoost + FinBERT on labeled data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Redis; re-run the identical eval harness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feedback loop via the existing feedback endpoint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55864" y="1508760"/>
            <a:ext cx="3639312" cy="4709160"/>
          </a:xfrm>
          <a:prstGeom prst="roundRect">
            <a:avLst>
              <a:gd name="adj" fmla="val 2261"/>
            </a:avLst>
          </a:prstGeom>
          <a:solidFill>
            <a:srgbClr val="EAF4F1"/>
          </a:solidFill>
          <a:ln w="12700">
            <a:solidFill>
              <a:srgbClr val="EAF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11896" y="171907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7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production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311896" y="2240280"/>
            <a:ext cx="3154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Aggregator, GST, bureau &amp; property/vehicle integrations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Champion/challenger models, drift monitoring, audit trail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intent amplification from live app events</a:t>
            </a:r>
            <a:endParaRPr lang="en-US" sz="1150" dirty="0"/>
          </a:p>
          <a:p>
            <a:pPr marL="127000" indent="-1270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0E2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Portfolio-level early-warning dashboards for underwriting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 Assist AI · IDBI Innovate 2026 · Track 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58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99339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public repository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0" y="199339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  ____________________________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306324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2783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video (3 minutes)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0" y="322783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429768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446227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8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product link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0" y="446227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____________________________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Prospect Assist AI · IDBI Innovate 2026 · Track 2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Prospect Assist AI — IDBI Innovate 2026 Prototype Submission</dc:title>
  <dc:subject>PptxGenJS Presentation</dc:subject>
  <dc:creator>Prospect Assist AI team</dc:creator>
  <cp:lastModifiedBy>Prospect Assist AI team</cp:lastModifiedBy>
  <cp:revision>1</cp:revision>
  <dcterms:created xsi:type="dcterms:W3CDTF">2026-07-13T02:28:32Z</dcterms:created>
  <dcterms:modified xsi:type="dcterms:W3CDTF">2026-07-13T02:28:32Z</dcterms:modified>
</cp:coreProperties>
</file>